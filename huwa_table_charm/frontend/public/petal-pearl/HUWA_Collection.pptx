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794350c2ad41eb" /><Relationship Type="http://schemas.openxmlformats.org/officeDocument/2006/relationships/extended-properties" Target="/docProps/app.xml" Id="R2fcafc7ad4e047f6" /><Relationship Type="http://schemas.openxmlformats.org/officeDocument/2006/relationships/officeDocument" Target="/ppt/presentation.xml" Id="R4922c601ea1145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335136bb68454c"/>
  </p:sldMasterIdLst>
  <p:notesMasterIdLst>
    <p:notesMasterId xmlns:r="http://schemas.openxmlformats.org/officeDocument/2006/relationships" r:id="Rc5903a3114f94664"/>
  </p:notesMasterIdLst>
  <p:sldIdLst>
    <p:sldId xmlns:r="http://schemas.openxmlformats.org/officeDocument/2006/relationships" id="256" r:id="Rf90789316c6f47a5"/>
    <p:sldId xmlns:r="http://schemas.openxmlformats.org/officeDocument/2006/relationships" id="257" r:id="Ra6c4373f83cc42a2"/>
    <p:sldId xmlns:r="http://schemas.openxmlformats.org/officeDocument/2006/relationships" id="258" r:id="R3d22ca21bde74a44"/>
    <p:sldId xmlns:r="http://schemas.openxmlformats.org/officeDocument/2006/relationships" id="259" r:id="Rb870288531ef4a37"/>
    <p:sldId xmlns:r="http://schemas.openxmlformats.org/officeDocument/2006/relationships" id="260" r:id="Rfc21f44a55e54a24"/>
    <p:sldId xmlns:r="http://schemas.openxmlformats.org/officeDocument/2006/relationships" id="261" r:id="Rbd19719811fe4718"/>
    <p:sldId xmlns:r="http://schemas.openxmlformats.org/officeDocument/2006/relationships" id="262" r:id="Rbd248f8804a74353"/>
    <p:sldId xmlns:r="http://schemas.openxmlformats.org/officeDocument/2006/relationships" id="263" r:id="Rb59e2e8e57c14a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460c2f3a31473c" /><Relationship Type="http://schemas.openxmlformats.org/officeDocument/2006/relationships/slideMaster" Target="/ppt/slideMasters/slideMaster1.xml" Id="Rc9335136bb68454c" /><Relationship Type="http://schemas.openxmlformats.org/officeDocument/2006/relationships/notesMaster" Target="/ppt/notesMasters/notesMaster1.xml" Id="Rc5903a3114f94664" /><Relationship Type="http://schemas.openxmlformats.org/officeDocument/2006/relationships/presProps" Target="/ppt/presProps.xml" Id="R4167526790db495e" /><Relationship Type="http://schemas.openxmlformats.org/officeDocument/2006/relationships/tableStyles" Target="/ppt/tableStyles.xml" Id="Rddffec9f3c39488d" /><Relationship Type="http://schemas.openxmlformats.org/officeDocument/2006/relationships/slide" Target="/ppt/slides/slide1.xml" Id="Rf90789316c6f47a5" /><Relationship Type="http://schemas.openxmlformats.org/officeDocument/2006/relationships/slide" Target="/ppt/slides/slide2.xml" Id="Ra6c4373f83cc42a2" /><Relationship Type="http://schemas.openxmlformats.org/officeDocument/2006/relationships/slide" Target="/ppt/slides/slide3.xml" Id="R3d22ca21bde74a44" /><Relationship Type="http://schemas.openxmlformats.org/officeDocument/2006/relationships/slide" Target="/ppt/slides/slide4.xml" Id="Rb870288531ef4a37" /><Relationship Type="http://schemas.openxmlformats.org/officeDocument/2006/relationships/slide" Target="/ppt/slides/slide5.xml" Id="Rfc21f44a55e54a24" /><Relationship Type="http://schemas.openxmlformats.org/officeDocument/2006/relationships/slide" Target="/ppt/slides/slide6.xml" Id="Rbd19719811fe4718" /><Relationship Type="http://schemas.openxmlformats.org/officeDocument/2006/relationships/slide" Target="/ppt/slides/slide7.xml" Id="Rbd248f8804a74353" /><Relationship Type="http://schemas.openxmlformats.org/officeDocument/2006/relationships/slide" Target="/ppt/slides/slide8.xml" Id="Rb59e2e8e57c14a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b9810acc4445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093e07f4ef4c3a" /><Relationship Type="http://schemas.openxmlformats.org/officeDocument/2006/relationships/notesMaster" Target="/ppt/notesMasters/notesMaster1.xml" Id="R37afcc266f9144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14c59400e74f46" /><Relationship Type="http://schemas.openxmlformats.org/officeDocument/2006/relationships/notesMaster" Target="/ppt/notesMasters/notesMaster1.xml" Id="R1f0b50d6844e4e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cefe754af34bc0" /><Relationship Type="http://schemas.openxmlformats.org/officeDocument/2006/relationships/notesMaster" Target="/ppt/notesMasters/notesMaster1.xml" Id="R8527d21a29d942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862ff08a96460c" /><Relationship Type="http://schemas.openxmlformats.org/officeDocument/2006/relationships/notesMaster" Target="/ppt/notesMasters/notesMaster1.xml" Id="R691651cdd5db4c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c33f1a760a4cf5" /><Relationship Type="http://schemas.openxmlformats.org/officeDocument/2006/relationships/notesMaster" Target="/ppt/notesMasters/notesMaster1.xml" Id="Re434e33464724b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f0ebbb9d0f4ecf" /><Relationship Type="http://schemas.openxmlformats.org/officeDocument/2006/relationships/notesMaster" Target="/ppt/notesMasters/notesMaster1.xml" Id="Rf458f100245941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328bdaf0e04060" /><Relationship Type="http://schemas.openxmlformats.org/officeDocument/2006/relationships/notesMaster" Target="/ppt/notesMasters/notesMaster1.xml" Id="Rda5244c244b145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af0ae07539424e" /><Relationship Type="http://schemas.openxmlformats.org/officeDocument/2006/relationships/notesMaster" Target="/ppt/notesMasters/notesMaster1.xml" Id="R02ac59466e7a40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HUWA Table Charm is a product concept created for this presentation. Dimensions, capacities, finishes, and price points are proposals for design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HUWA Table Charm is a product concept created for this presentation. Dimensions, capacities, finishes, and price points are proposals for design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HUWA Table Charm is a product concept created for this presentation. Dimensions, capacities, finishes, and price points are proposals for design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HUWA Table Charm is a product concept created for this presentation. Dimensions, capacities, finishes, and price points are proposals for design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HUWA Table Charm is a product concept created for this presentation. Dimensions, capacities, finishes, and price points are proposals for design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HUWA Table Charm is a product concept created for this presentation. Dimensions, capacities, finishes, and price points are proposals for design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concept store. Illustrative USD prices: carafe $48, cup $24, bowl $28 and plate $28. A setting for four costs $48 + 4 × ($24 + $28 + $28) = $368. Local browser storage remembers the shopping bag and wishlist. Payments and orders are not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HUWA Table Charm is a product concept created for this presentation. Dimensions, capacities, finishes, and price points are proposals for design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611b4baca4f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74373ab7d14822" /><Relationship Type="http://schemas.openxmlformats.org/officeDocument/2006/relationships/slideLayout" Target="/ppt/slideLayouts/slideLayout1.xml" Id="R8f78b15ef9c1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78b15ef9c1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e047678b04c05" /><Relationship Type="http://schemas.openxmlformats.org/officeDocument/2006/relationships/image" Target="/ppt/media/image.png" Id="R0d9e3b11f61646f8" /><Relationship Type="http://schemas.openxmlformats.org/officeDocument/2006/relationships/notesSlide" Target="/ppt/notesSlides/notesSlide1.xml" Id="Rabd7defff35048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ad20ac7724a34" /><Relationship Type="http://schemas.openxmlformats.org/officeDocument/2006/relationships/image" Target="/ppt/media/image2.png" Id="R90ac2ae7374c4bc7" /><Relationship Type="http://schemas.openxmlformats.org/officeDocument/2006/relationships/notesSlide" Target="/ppt/notesSlides/notesSlide2.xml" Id="R6e5d9badcdfa4f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f2b506f5340fa" /><Relationship Type="http://schemas.openxmlformats.org/officeDocument/2006/relationships/image" Target="/ppt/media/image3.png" Id="R0b01eb366c92455f" /><Relationship Type="http://schemas.openxmlformats.org/officeDocument/2006/relationships/notesSlide" Target="/ppt/notesSlides/notesSlide3.xml" Id="Ra01d0211666a4c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379b209b04142" /><Relationship Type="http://schemas.openxmlformats.org/officeDocument/2006/relationships/image" Target="/ppt/media/image4.png" Id="Rc40b03749c514bd8" /><Relationship Type="http://schemas.openxmlformats.org/officeDocument/2006/relationships/notesSlide" Target="/ppt/notesSlides/notesSlide4.xml" Id="R7ab93892d79f40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ace23d933457f" /><Relationship Type="http://schemas.openxmlformats.org/officeDocument/2006/relationships/image" Target="/ppt/media/image5.png" Id="R2e1d6ae6b0044960" /><Relationship Type="http://schemas.openxmlformats.org/officeDocument/2006/relationships/notesSlide" Target="/ppt/notesSlides/notesSlide5.xml" Id="Raf3c35af50a94d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0c2147d22430b" /><Relationship Type="http://schemas.openxmlformats.org/officeDocument/2006/relationships/image" Target="/ppt/media/image6.png" Id="R71abbd19b91d4e76" /><Relationship Type="http://schemas.openxmlformats.org/officeDocument/2006/relationships/notesSlide" Target="/ppt/notesSlides/notesSlide6.xml" Id="R3ed314c636b549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cc589075342ce" /><Relationship Type="http://schemas.openxmlformats.org/officeDocument/2006/relationships/image" Target="/ppt/media/image7.png" Id="R8d4ea41c9b9d4100" /><Relationship Type="http://schemas.openxmlformats.org/officeDocument/2006/relationships/notesSlide" Target="/ppt/notesSlides/notesSlide7.xml" Id="R9141cb73096e49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ffd96cc8c4a98" /><Relationship Type="http://schemas.openxmlformats.org/officeDocument/2006/relationships/image" Target="/ppt/media/image8.png" Id="R944ec184f7ef456b" /><Relationship Type="http://schemas.openxmlformats.org/officeDocument/2006/relationships/notesSlide" Target="/ppt/notesSlides/notesSlide8.xml" Id="R078acf28625449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848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e3b11f61646f8"/>
          <a:srcRect xmlns:a="http://schemas.openxmlformats.org/drawingml/2006/main" l="21719" t="0" r="21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5900" y="0"/>
            <a:ext cx="6896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9036D-6C21-47EC-9581-C5AE09BA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0" i="0" spc="5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2550" b="0" i="0" spc="5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HUWA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ED0A4-FE65-4838-9487-7CA1E2E6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 i="0" spc="2">
                <a:solidFill>
                  <a:srgbClr val="BFCEC0"/>
                </a:solidFill>
                <a:latin typeface="Arial"/>
                <a:ea typeface="Arial"/>
                <a:cs typeface="Arial"/>
              </a:defRPr>
            </a:pPr>
            <a:r>
              <a:rPr sz="675" b="0" i="0" spc="2">
                <a:solidFill>
                  <a:srgbClr val="BFCEC0"/>
                </a:solidFill>
                <a:latin typeface="Arial"/>
                <a:ea typeface="Arial"/>
                <a:cs typeface="Arial"/>
              </a:rPr>
              <a:t>TABLE CHARM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FD77F-3D23-4A34-8E3B-AF6CAADD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AE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262D1-0173-4FB7-A44E-3AA9471C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28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435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Petal &amp; Pearl.</a:t>
            </a:r>
          </a:p>
          <a:p xmlns:a="http://schemas.openxmlformats.org/drawingml/2006/main">
            <a:pPr algn="l">
              <a:defRPr sz="435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435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Table Charm.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C746B-1406-469E-9394-359D6E12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 spc="0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1350" b="0" i="0" spc="0">
                <a:solidFill>
                  <a:srgbClr val="EDDAE0"/>
                </a:solidFill>
                <a:latin typeface="Arial"/>
                <a:ea typeface="Arial"/>
                <a:cs typeface="Arial"/>
              </a:rPr>
              <a:t>Scalloped porcelain and champagne details</a:t>
            </a:r>
          </a:p>
          <a:p xmlns:a="http://schemas.openxmlformats.org/drawingml/2006/main">
            <a:pPr algn="l">
              <a:defRPr sz="1350" b="0" i="0" spc="0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1350" b="0" i="0" spc="0">
                <a:solidFill>
                  <a:srgbClr val="EDDAE0"/>
                </a:solidFill>
                <a:latin typeface="Arial"/>
                <a:ea typeface="Arial"/>
                <a:cs typeface="Arial"/>
              </a:rPr>
              <a:t>for everyday rituals and thoughtful gifts.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42AFB-CB8C-4E62-A2B7-B4DED9DB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 spc="1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750" b="0" i="0" spc="1">
                <a:solidFill>
                  <a:srgbClr val="EDDAE0"/>
                </a:solidFill>
                <a:latin typeface="Arial"/>
                <a:ea typeface="Arial"/>
                <a:cs typeface="Arial"/>
              </a:rPr>
              <a:t>PRODUCT CONCEPT / COLLECTION 001</a:t>
            </a:r>
          </a:p>
        </p:txBody>
      </p:sp>
    </p:spTree>
    <p:extLst>
      <p:ext uri="{BB962C8B-B14F-4D97-AF65-F5344CB8AC3E}">
        <p14:creationId xmlns:p14="http://schemas.microsoft.com/office/powerpoint/2010/main" val="811741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E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E085D-A214-4D0F-B7F7-CE19D904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2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2">
                <a:solidFill>
                  <a:srgbClr val="A9667C"/>
                </a:solidFill>
                <a:latin typeface="Arial"/>
                <a:ea typeface="Arial"/>
                <a:cs typeface="Arial"/>
              </a:rPr>
              <a:t>01 / COLLECTION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966F7-CA5A-4D80-A240-2F0D8F4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3150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A softer collection with character.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47F96-E9F2-45AC-A0F8-B00114BF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27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127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Table Charm gives an everyday table a clear visual language: a petal contours, a ribbon handle, and a champagne foot that makes each piece feel grounded.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c2ae7374c4bc7"/>
          <a:srcRect xmlns:a="http://schemas.openxmlformats.org/drawingml/2006/main" l="8573" t="0" r="85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419100"/>
            <a:ext cx="5191125" cy="3524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B3B86-3890-4B86-AA64-F459D54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5048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DF8F5"/>
          </a:solidFill>
          <a:ln xmlns:a="http://schemas.openxmlformats.org/drawingml/2006/main" w="9525">
            <a:solidFill>
              <a:srgbClr val="DED0D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94425-4DF2-4A66-B2C7-7610D307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71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2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2">
                <a:solidFill>
                  <a:srgbClr val="A9667C"/>
                </a:solidFill>
                <a:latin typeface="Arial"/>
                <a:ea typeface="Arial"/>
                <a:cs typeface="Arial"/>
              </a:rPr>
              <a:t>FORM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6D84C-C965-4850-8888-8CA182E7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957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1575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Petal rims soften the silhouette. Curved handles make each piece feel personal.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34F2D-7E47-4E67-A8EB-CEF2FF53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1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87"/>
          </a:bodyPr>
          <a:lstStyle xmlns:a="http://schemas.openxmlformats.org/drawingml/2006/main"/>
          <a:p xmlns:a="http://schemas.openxmlformats.org/drawingml/2006/main">
            <a:pPr algn="l">
              <a:def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The geometry stays recognizable when it is stacked, mixed, or seen in a small thumbnail.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F7C2A-1284-4C49-A103-8D91E87F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51911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8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03637-82D9-417F-9B1D-B89A795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defRPr sz="1875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1875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A collection is strongest when every piece</a:t>
            </a:r>
          </a:p>
          <a:p xmlns:a="http://schemas.openxmlformats.org/drawingml/2006/main">
            <a:pPr algn="l">
              <a:defRPr sz="1875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1875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looks related before it looks identical.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0C851-5B46-464C-AC50-6366CE8E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rPr>
              <a:t>HUWA / TABLE CHARM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2FBCB-5B89-4F2C-BF44-8E773416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5998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6848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19302-C7A5-487A-8E37-5EF7AE3F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2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750" b="0" i="0" spc="2">
                <a:solidFill>
                  <a:srgbClr val="EDDAE0"/>
                </a:solidFill>
                <a:latin typeface="Arial"/>
                <a:ea typeface="Arial"/>
                <a:cs typeface="Arial"/>
              </a:rPr>
              <a:t>02 / OBJECT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096FA-AAB1-4059-93F3-F2015AAE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048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36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Bloom Carafe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D965D-1C7B-4F5E-B890-0850EF33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 spc="0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1200" b="0" i="0" spc="0">
                <a:solidFill>
                  <a:srgbClr val="EDDAE0"/>
                </a:solidFill>
                <a:latin typeface="Arial"/>
                <a:ea typeface="Arial"/>
                <a:cs typeface="Arial"/>
              </a:rPr>
              <a:t>The hero object is a pitcher with a strong silhouette and a generous, circular grip.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1eb366c92455f"/>
          <a:srcRect xmlns:a="http://schemas.openxmlformats.org/drawingml/2006/main" l="13115" t="0" r="131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0"/>
            <a:ext cx="7620000" cy="581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0D038-E070-49FC-A197-3CD71C2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 i="0" spc="0">
                <a:solidFill>
                  <a:srgbClr val="D7A5AF"/>
                </a:solidFill>
                <a:latin typeface="Arial"/>
                <a:ea typeface="Arial"/>
                <a:cs typeface="Arial"/>
              </a:defRPr>
            </a:pPr>
            <a:r>
              <a:rPr sz="750" b="1" i="0" spc="0">
                <a:solidFill>
                  <a:srgbClr val="D7A5A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03DF2-B575-4C5E-ACA1-6B5A5F7F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 spc="0">
                <a:solidFill>
                  <a:srgbClr val="FDF8F5"/>
                </a:solidFill>
                <a:latin typeface="Arial"/>
                <a:ea typeface="Arial"/>
                <a:cs typeface="Arial"/>
              </a:defRPr>
            </a:pPr>
            <a:r>
              <a:rPr sz="1125" b="1" i="0" spc="0">
                <a:solidFill>
                  <a:srgbClr val="FDF8F5"/>
                </a:solidFill>
                <a:latin typeface="Arial"/>
                <a:ea typeface="Arial"/>
                <a:cs typeface="Arial"/>
              </a:rPr>
              <a:t>petal wall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E4C6E-8436-43D5-9390-4ACD8672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 spc="0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825" b="0" i="0" spc="0">
                <a:solidFill>
                  <a:srgbClr val="EDDAE0"/>
                </a:solidFill>
                <a:latin typeface="Arial"/>
                <a:ea typeface="Arial"/>
                <a:cs typeface="Arial"/>
              </a:rPr>
              <a:t>Sixteen soft flutes catch light in the glaze.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ED239-965A-4F24-81FD-9EA563D8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62325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5D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E2760-51EF-4BD7-B4DD-399636A6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 i="0" spc="0">
                <a:solidFill>
                  <a:srgbClr val="D7A5AF"/>
                </a:solidFill>
                <a:latin typeface="Arial"/>
                <a:ea typeface="Arial"/>
                <a:cs typeface="Arial"/>
              </a:defRPr>
            </a:pPr>
            <a:r>
              <a:rPr sz="750" b="1" i="0" spc="0">
                <a:solidFill>
                  <a:srgbClr val="D7A5A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80082-8B79-49E1-B86A-8FE24699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 spc="0">
                <a:solidFill>
                  <a:srgbClr val="FDF8F5"/>
                </a:solidFill>
                <a:latin typeface="Arial"/>
                <a:ea typeface="Arial"/>
                <a:cs typeface="Arial"/>
              </a:defRPr>
            </a:pPr>
            <a:r>
              <a:rPr sz="1125" b="1" i="0" spc="0">
                <a:solidFill>
                  <a:srgbClr val="FDF8F5"/>
                </a:solidFill>
                <a:latin typeface="Arial"/>
                <a:ea typeface="Arial"/>
                <a:cs typeface="Arial"/>
              </a:rPr>
              <a:t>sculpted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4F959-BF7F-441B-AD6A-BE50BE18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 spc="0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825" b="0" i="0" spc="0">
                <a:solidFill>
                  <a:srgbClr val="EDDAE0"/>
                </a:solidFill>
                <a:latin typeface="Arial"/>
                <a:ea typeface="Arial"/>
                <a:cs typeface="Arial"/>
              </a:rPr>
              <a:t>A generous grip with a delicate champagne inset.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E152B-4CA1-456B-AF62-79A01CCD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5D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01E3C-4CCE-4FB3-8D74-6D3426B4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 i="0" spc="0">
                <a:solidFill>
                  <a:srgbClr val="D7A5AF"/>
                </a:solidFill>
                <a:latin typeface="Arial"/>
                <a:ea typeface="Arial"/>
                <a:cs typeface="Arial"/>
              </a:defRPr>
            </a:pPr>
            <a:r>
              <a:rPr sz="750" b="1" i="0" spc="0">
                <a:solidFill>
                  <a:srgbClr val="D7A5A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F87CE-D7AF-47E2-928A-A0141B82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 spc="0">
                <a:solidFill>
                  <a:srgbClr val="FDF8F5"/>
                </a:solidFill>
                <a:latin typeface="Arial"/>
                <a:ea typeface="Arial"/>
                <a:cs typeface="Arial"/>
              </a:defRPr>
            </a:pPr>
            <a:r>
              <a:rPr sz="1125" b="1" i="0" spc="0">
                <a:solidFill>
                  <a:srgbClr val="FDF8F5"/>
                </a:solidFill>
                <a:latin typeface="Arial"/>
                <a:ea typeface="Arial"/>
                <a:cs typeface="Arial"/>
              </a:rPr>
              <a:t>foot 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EBB4D-AAEC-4C2C-80C2-F2CC73A7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529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 spc="0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825" b="0" i="0" spc="0">
                <a:solidFill>
                  <a:srgbClr val="EDDAE0"/>
                </a:solidFill>
                <a:latin typeface="Arial"/>
                <a:ea typeface="Arial"/>
                <a:cs typeface="Arial"/>
              </a:rPr>
              <a:t>A darker base that keeps the form visually planted.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28354-06A8-4AA1-8261-51399CCC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5D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B5E14-E0D5-424B-97A8-87A6E09E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rPr>
              <a:t>HUWA / OBJECT STUDY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28E68-0B54-43CB-8AA5-1A68F681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149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E16A77-9099-49EA-86B5-70495589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2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2">
                <a:solidFill>
                  <a:srgbClr val="A9667C"/>
                </a:solidFill>
                <a:latin typeface="Arial"/>
                <a:ea typeface="Arial"/>
                <a:cs typeface="Arial"/>
              </a:rPr>
              <a:t>03 / FAMILY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F8A82-2CFD-4B00-B327-CF9DF01F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144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32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Four pieces for a lovely 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181DC-D166-46B9-A5EB-8DB48FAA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12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12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The collection works as a family because the proportions change while the underlying moves stay constant.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b03749c514bd8"/>
          <a:srcRect xmlns:a="http://schemas.openxmlformats.org/drawingml/2006/main" l="1256" t="0" r="12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381625" cy="3105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802E2-2D4F-47BD-B63C-1974BF6F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AF44D-3E83-4FBB-9F8C-9C623125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1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1">
                <a:solidFill>
                  <a:srgbClr val="A9667C"/>
                </a:solidFill>
                <a:latin typeface="Arial"/>
                <a:ea typeface="Arial"/>
                <a:cs typeface="Arial"/>
              </a:rPr>
              <a:t>BLOOM CARAFE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97396-9966-4B0B-AA20-B97413EF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 algn="l">
              <a:defRPr sz="17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17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Pitcher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9DD96-F10C-40F0-928D-25A00EFB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270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10BE4-F219-4804-A067-95D6D1F7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Pour + display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27013-F3F5-4C4D-8210-F28867C7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09875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D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6AB29-7396-454F-B3A7-74865804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0003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1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1">
                <a:solidFill>
                  <a:srgbClr val="A9667C"/>
                </a:solidFill>
                <a:latin typeface="Arial"/>
                <a:ea typeface="Arial"/>
                <a:cs typeface="Arial"/>
              </a:rPr>
              <a:t>RIBBON CUP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72756-6283-4F05-B5DF-21ECF3AE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2670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 algn="l">
              <a:defRPr sz="17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17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Cup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5AFE5-EF34-436E-A32D-E390CDA1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638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105 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4545E-6381-431F-BA97-9C439BD6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905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Daily ritual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579D4-1973-4889-A91E-D7643BF8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9875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D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D5C39-DD3D-4755-AC44-06F037C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03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1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1">
                <a:solidFill>
                  <a:srgbClr val="A9667C"/>
                </a:solidFill>
                <a:latin typeface="Arial"/>
                <a:ea typeface="Arial"/>
                <a:cs typeface="Arial"/>
              </a:rPr>
              <a:t>PETAL BOWL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BAC4D-C915-4443-B0CF-2056569D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670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 algn="l">
              <a:defRPr sz="17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17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Bowl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484AC-3F88-4B65-A00C-088501AE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190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E3AB6-7814-4FAC-A9CD-18DD538E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Shared comfort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542F2-8172-4ACB-8C68-6EE897AB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09875"/>
            <a:ext cx="204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D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AD698-9F4B-40EF-9A8E-B27A5D87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003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1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1">
                <a:solidFill>
                  <a:srgbClr val="A9667C"/>
                </a:solidFill>
                <a:latin typeface="Arial"/>
                <a:ea typeface="Arial"/>
                <a:cs typeface="Arial"/>
              </a:rPr>
              <a:t>PEARL PLATE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2AA06-DBC4-44C6-AFB7-2B13E03D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670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 algn="l">
              <a:defRPr sz="17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17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Plate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7772C-DCE9-4433-92E2-BDEDB4C3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38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270 mm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BF429-1424-42CA-9037-0E16AF7A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905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Anchor the 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47406-414B-4E82-B731-FF3E7045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109251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E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27494-6654-4D39-856C-646D4F5D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1500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The same language can scale from an object on a pedestal to a full table setting.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9D3689-1CD6-42C4-947A-F9E77761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rPr>
              <a:t>HUWA / TABLE CHARM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9EC95A-263E-4685-8A49-6CB8DF6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3636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EE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F7417-CEB7-4735-882E-6ECC359C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2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2">
                <a:solidFill>
                  <a:srgbClr val="A9667C"/>
                </a:solidFill>
                <a:latin typeface="Arial"/>
                <a:ea typeface="Arial"/>
                <a:cs typeface="Arial"/>
              </a:rPr>
              <a:t>04 / MATERIAL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4789A-9AD2-4200-A9F2-BE6C1026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048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3225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Colour does the storytelling.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386B3-FBA8-4F93-9521-7794664F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12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The same geometry shifts character through glaze, foot ring, and light. Four finishes create an expandable product system.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d6ae6b0044960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476250"/>
            <a:ext cx="5524500" cy="3105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B1E63-095B-4306-B7A2-24F7E62F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A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5EBCB-6060-4BFA-90BC-6B5FC116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 spc="1">
                <a:solidFill>
                  <a:srgbClr val="483B40"/>
                </a:solidFill>
                <a:latin typeface="Arial"/>
                <a:ea typeface="Arial"/>
                <a:cs typeface="Arial"/>
              </a:defRPr>
            </a:pPr>
            <a:r>
              <a:rPr sz="825" b="1" i="0" spc="1">
                <a:solidFill>
                  <a:srgbClr val="483B40"/>
                </a:solidFill>
                <a:latin typeface="Arial"/>
                <a:ea typeface="Arial"/>
                <a:cs typeface="Arial"/>
              </a:rPr>
              <a:t>ROSE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3A60A-23C1-4D18-9A30-DBE8025E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82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soft blush for everyday rituals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5A029-774C-4260-BC7D-E3E6B414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214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E5143-E71E-401A-B38A-25A44771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 spc="0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0">
                <a:solidFill>
                  <a:srgbClr val="A966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87028-9EE2-4B96-89ED-08C2896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76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C1B6F-DB0A-42A5-A2DC-64BC2C16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 spc="1">
                <a:solidFill>
                  <a:srgbClr val="483B40"/>
                </a:solidFill>
                <a:latin typeface="Arial"/>
                <a:ea typeface="Arial"/>
                <a:cs typeface="Arial"/>
              </a:defRPr>
            </a:pPr>
            <a:r>
              <a:rPr sz="825" b="1" i="0" spc="1">
                <a:solidFill>
                  <a:srgbClr val="483B40"/>
                </a:solidFill>
                <a:latin typeface="Arial"/>
                <a:ea typeface="Arial"/>
                <a:cs typeface="Arial"/>
              </a:rPr>
              <a:t>PEARL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CDDEC-48FD-4D77-8B79-3CC606D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14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82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warm porcelain with champagne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2A0C0-DBED-4B8A-BFD1-C5626298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38575"/>
            <a:ext cx="214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D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7E786-B7AA-4D71-9A25-AA0C0392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57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 spc="0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0">
                <a:solidFill>
                  <a:srgbClr val="A966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AD365-AFE6-4961-BEA6-531868A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76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45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5D572-2B9C-4306-AF98-6B69F945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 spc="1">
                <a:solidFill>
                  <a:srgbClr val="483B40"/>
                </a:solidFill>
                <a:latin typeface="Arial"/>
                <a:ea typeface="Arial"/>
                <a:cs typeface="Arial"/>
              </a:defRPr>
            </a:pPr>
            <a:r>
              <a:rPr sz="825" b="1" i="0" spc="1">
                <a:solidFill>
                  <a:srgbClr val="483B40"/>
                </a:solidFill>
                <a:latin typeface="Arial"/>
                <a:ea typeface="Arial"/>
                <a:cs typeface="Arial"/>
              </a:rPr>
              <a:t>MULBERRY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BE1C6-1F20-4AAE-A626-DD59BFEB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82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rich glaze for evening settings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25FE9-6E1B-4E8F-8BB8-E88E0304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38575"/>
            <a:ext cx="214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D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2765E-4E88-4701-81A9-568F72BB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 spc="0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0">
                <a:solidFill>
                  <a:srgbClr val="A966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97A04-C924-4D49-8B61-C6614F4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76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3A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4E64E-FADA-423F-87C2-29FC73E7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670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 spc="1">
                <a:solidFill>
                  <a:srgbClr val="483B40"/>
                </a:solidFill>
                <a:latin typeface="Arial"/>
                <a:ea typeface="Arial"/>
                <a:cs typeface="Arial"/>
              </a:defRPr>
            </a:pPr>
            <a:r>
              <a:rPr sz="825" b="1" i="0" spc="1">
                <a:solidFill>
                  <a:srgbClr val="483B40"/>
                </a:solidFill>
                <a:latin typeface="Arial"/>
                <a:ea typeface="Arial"/>
                <a:cs typeface="Arial"/>
              </a:rPr>
              <a:t>PISTACHIO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88EED-C732-49FB-ABFB-239CBEBD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14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82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gentle green for a fresh 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F6E86-C9C7-4851-95C4-DB4F50B6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38575"/>
            <a:ext cx="214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D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1715BA-C9C1-41CA-B221-EE92F595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 spc="0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750" b="0" i="0" spc="0">
                <a:solidFill>
                  <a:srgbClr val="A966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584DB-9618-401F-951A-189F415E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9251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85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A1B3D-5D4D-4471-8611-1A744778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292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165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Finish is the fastest route from one object to four moods.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F43BA-287D-4E06-B9D7-CFB66324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rPr>
              <a:t>HUWA / TABLE CHARM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9E2649-4BD4-4B44-8A24-2CB83076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0410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6848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E1717-0543-4AD1-8A7E-D548711E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2">
                <a:solidFill>
                  <a:srgbClr val="C8D4C6"/>
                </a:solidFill>
                <a:latin typeface="Arial"/>
                <a:ea typeface="Arial"/>
                <a:cs typeface="Arial"/>
              </a:defRPr>
            </a:pPr>
            <a:r>
              <a:rPr sz="750" b="0" i="0" spc="2">
                <a:solidFill>
                  <a:srgbClr val="C8D4C6"/>
                </a:solidFill>
                <a:latin typeface="Arial"/>
                <a:ea typeface="Arial"/>
                <a:cs typeface="Arial"/>
              </a:rPr>
              <a:t>05 / COMMERCE EXPRESSION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01F2F-8D36-469D-9C17-D6388C73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0487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53"/>
          </a:bodyPr>
          <a:lstStyle xmlns:a="http://schemas.openxmlformats.org/drawingml/2006/main"/>
          <a:p xmlns:a="http://schemas.openxmlformats.org/drawingml/2006/main">
            <a:pPr algn="l">
              <a:defRPr sz="36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36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Make the product</a:t>
            </a:r>
          </a:p>
          <a:p xmlns:a="http://schemas.openxmlformats.org/drawingml/2006/main">
            <a:pPr algn="l">
              <a:defRPr sz="36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36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feel touchable.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45540-2331-4CE8-B093-533B900B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 i="0" spc="0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1200" b="0" i="0" spc="0">
                <a:solidFill>
                  <a:srgbClr val="EDDAE0"/>
                </a:solidFill>
                <a:latin typeface="Arial"/>
                <a:ea typeface="Arial"/>
                <a:cs typeface="Arial"/>
              </a:rPr>
              <a:t>The shopping experience supports personal style, gifts, and complete table settings.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bbd19b91d4e76"/>
          <a:stretch xmlns:a="http://schemas.openxmlformats.org/drawingml/2006/main"/>
        </p:blipFill>
        <p:spPr>
          <a:xfrm xmlns:a="http://schemas.openxmlformats.org/drawingml/2006/main">
            <a:off x="5667375" y="1602664"/>
            <a:ext cx="6524625" cy="29859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3E660-8FC6-4807-B48A-E82EE506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3857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795E69"/>
          </a:solidFill>
          <a:ln xmlns:a="http://schemas.openxmlformats.org/drawingml/2006/main" w="9525">
            <a:solidFill>
              <a:srgbClr val="A38C9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43B8D-65A2-4A21-AF1F-777B33F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76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1">
                <a:solidFill>
                  <a:srgbClr val="D7A5AF"/>
                </a:solidFill>
                <a:latin typeface="Arial"/>
                <a:ea typeface="Arial"/>
                <a:cs typeface="Arial"/>
              </a:defRPr>
            </a:pPr>
            <a:r>
              <a:rPr sz="750" b="0" i="0" spc="1">
                <a:solidFill>
                  <a:srgbClr val="D7A5AF"/>
                </a:solidFill>
                <a:latin typeface="Arial"/>
                <a:ea typeface="Arial"/>
                <a:cs typeface="Arial"/>
              </a:rPr>
              <a:t>PRODUCT PAGE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7C3F3-06B0-4E46-A858-752ED27C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19575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 algn="l">
              <a:defRPr sz="18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18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Find a favourite.</a:t>
            </a:r>
          </a:p>
          <a:p xmlns:a="http://schemas.openxmlformats.org/drawingml/2006/main">
            <a:pPr algn="l">
              <a:defRPr sz="18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18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Save it for later.</a:t>
            </a:r>
          </a:p>
          <a:p xmlns:a="http://schemas.openxmlformats.org/drawingml/2006/main">
            <a:pPr algn="l">
              <a:defRPr sz="18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18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Explore it in 3D.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EC9B9-D8C2-456C-894A-CBB17BED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53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 spc="0">
                <a:solidFill>
                  <a:srgbClr val="EDDAE0"/>
                </a:solidFill>
                <a:latin typeface="Arial"/>
                <a:ea typeface="Arial"/>
                <a:cs typeface="Arial"/>
              </a:defRPr>
            </a:pPr>
            <a:r>
              <a:rPr sz="1125" b="0" i="0" spc="0">
                <a:solidFill>
                  <a:srgbClr val="EDDAE0"/>
                </a:solidFill>
                <a:latin typeface="Arial"/>
                <a:ea typeface="Arial"/>
                <a:cs typeface="Arial"/>
              </a:rPr>
              <a:t>Searchable products with a wishlist that remembers your favourites.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71282-9AF5-4240-8D39-A4863C77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rPr>
              <a:t>HUWA / DIGITAL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3BD72-12D7-4D1E-A8B9-0A9426CF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0733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C922B-3F7E-4A8C-827A-09B66C5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 spc="2">
                <a:solidFill>
                  <a:srgbClr val="A9667C"/>
                </a:solidFill>
                <a:latin typeface="Arial"/>
                <a:ea typeface="Arial"/>
                <a:cs typeface="Arial"/>
              </a:defRPr>
            </a:pPr>
            <a:r>
              <a:rPr sz="900" b="0" i="0" spc="2">
                <a:solidFill>
                  <a:srgbClr val="A9667C"/>
                </a:solidFill>
                <a:latin typeface="Arial"/>
                <a:ea typeface="Arial"/>
                <a:cs typeface="Arial"/>
              </a:rPr>
              <a:t>06 / TABLE SETTING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A5D3B-4FA1-46C5-8A4D-41132ED3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144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3300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A table for the people you love.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A5699-3AF4-43CF-91D4-265F7DDE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1500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Choose the guest count and a glaze. The store calculates each piece and the total.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ea41c9b9d4100"/>
          <a:stretch xmlns:a="http://schemas.openxmlformats.org/drawingml/2006/main"/>
        </p:blipFill>
        <p:spPr>
          <a:xfrm xmlns:a="http://schemas.openxmlformats.org/drawingml/2006/main">
            <a:off x="619125" y="2809875"/>
            <a:ext cx="10953750" cy="2095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62FAD-99E4-4404-A8EE-4A97498C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2100" b="0" i="0" spc="0">
                <a:solidFill>
                  <a:srgbClr val="483B40"/>
                </a:solidFill>
                <a:latin typeface="Georgia"/>
                <a:ea typeface="Georgia"/>
                <a:cs typeface="Georgia"/>
              </a:defRPr>
            </a:pPr>
            <a:r>
              <a:rPr sz="2100" b="0" i="0" spc="0">
                <a:solidFill>
                  <a:srgbClr val="483B40"/>
                </a:solidFill>
                <a:latin typeface="Georgia"/>
                <a:ea typeface="Georgia"/>
                <a:cs typeface="Georgia"/>
              </a:rPr>
              <a:t>A table for four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81421-A364-43E6-9BD4-23D77ED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76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 spc="0">
                <a:solidFill>
                  <a:srgbClr val="483B40"/>
                </a:solidFill>
                <a:latin typeface="Arial"/>
                <a:ea typeface="Arial"/>
                <a:cs typeface="Arial"/>
              </a:defRPr>
            </a:pPr>
            <a:r>
              <a:rPr sz="1500" b="0" i="0" spc="0">
                <a:solidFill>
                  <a:srgbClr val="483B40"/>
                </a:solidFill>
                <a:latin typeface="Arial"/>
                <a:ea typeface="Arial"/>
                <a:cs typeface="Arial"/>
              </a:rPr>
              <a:t>1 carafe + 4 cups + 4 bowls + 4 plates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27B93-0D45-4047-9739-3125DF49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127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Concept price: $368 USD. Customers can remove pieces from the bag.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DDCE9-8CBC-4BBC-8716-45807A05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2">
                <a:solidFill>
                  <a:srgbClr val="76666D"/>
                </a:solidFill>
                <a:latin typeface="Arial"/>
                <a:ea typeface="Arial"/>
                <a:cs typeface="Arial"/>
              </a:rPr>
              <a:t>HUWA / TABLE CHARM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D2ADF-6C52-4976-9D11-016C34B1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defRPr>
            </a:pPr>
            <a:r>
              <a:rPr sz="675" b="0" i="0" spc="0">
                <a:solidFill>
                  <a:srgbClr val="76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2544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A9667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ec184f7ef456b"/>
          <a:srcRect xmlns:a="http://schemas.openxmlformats.org/drawingml/2006/main" l="23047" t="0" r="230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45E10-A1FE-465A-8A47-EEFAD323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48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 i="0" spc="2">
                <a:solidFill>
                  <a:srgbClr val="F4DDCF"/>
                </a:solidFill>
                <a:latin typeface="Arial"/>
                <a:ea typeface="Arial"/>
                <a:cs typeface="Arial"/>
              </a:defRPr>
            </a:pPr>
            <a:r>
              <a:rPr sz="750" b="0" i="0" spc="2">
                <a:solidFill>
                  <a:srgbClr val="F4DDCF"/>
                </a:solidFill>
                <a:latin typeface="Arial"/>
                <a:ea typeface="Arial"/>
                <a:cs typeface="Arial"/>
              </a:rPr>
              <a:t>TABLE CHARM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9200E-EC77-41BA-8FB9-04C941AA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457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56"/>
          </a:bodyPr>
          <a:lstStyle xmlns:a="http://schemas.openxmlformats.org/drawingml/2006/main"/>
          <a:p xmlns:a="http://schemas.openxmlformats.org/drawingml/2006/main">
            <a:pPr algn="l">
              <a:defRPr sz="39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39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A little beauty.</a:t>
            </a:r>
          </a:p>
          <a:p xmlns:a="http://schemas.openxmlformats.org/drawingml/2006/main">
            <a:pPr algn="l">
              <a:defRPr sz="39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3900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Every 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76F76-971F-4034-990F-43A87657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2">
                <a:solidFill>
                  <a:srgbClr val="F4DDCF"/>
                </a:solidFill>
                <a:latin typeface="Arial"/>
                <a:ea typeface="Arial"/>
                <a:cs typeface="Arial"/>
              </a:defRPr>
            </a:pPr>
            <a:r>
              <a:rPr sz="750" b="0" i="0" spc="2">
                <a:solidFill>
                  <a:srgbClr val="F4DDCF"/>
                </a:solidFill>
                <a:latin typeface="Arial"/>
                <a:ea typeface="Arial"/>
                <a:cs typeface="Arial"/>
              </a:rPr>
              <a:t>HUWA / COLLECTION 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589B5-A3D7-464D-99E1-85F46ADD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3595C-7920-43BE-AE51-F5C2CF09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 spc="1">
                <a:solidFill>
                  <a:srgbClr val="F4DDCF"/>
                </a:solidFill>
                <a:latin typeface="Arial"/>
                <a:ea typeface="Arial"/>
                <a:cs typeface="Arial"/>
              </a:defRPr>
            </a:pPr>
            <a:r>
              <a:rPr sz="825" b="0" i="0" spc="1">
                <a:solidFill>
                  <a:srgbClr val="F4DDCF"/>
                </a:solidFill>
                <a:latin typeface="Arial"/>
                <a:ea typeface="Arial"/>
                <a:cs typeface="Arial"/>
              </a:rPr>
              <a:t>Next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A6AAC-DF12-44D5-B2B2-40668105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defRPr sz="1725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1725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Prototype the scalloped rim,</a:t>
            </a:r>
          </a:p>
          <a:p xmlns:a="http://schemas.openxmlformats.org/drawingml/2006/main">
            <a:pPr algn="l">
              <a:defRPr sz="1725" b="0" i="0" spc="0">
                <a:solidFill>
                  <a:srgbClr val="FDF8F5"/>
                </a:solidFill>
                <a:latin typeface="Georgia"/>
                <a:ea typeface="Georgia"/>
                <a:cs typeface="Georgia"/>
              </a:defRPr>
            </a:pPr>
            <a:r>
              <a:rPr sz="1725" b="0" i="0" spc="0">
                <a:solidFill>
                  <a:srgbClr val="FDF8F5"/>
                </a:solidFill>
                <a:latin typeface="Georgia"/>
                <a:ea typeface="Georgia"/>
                <a:cs typeface="Georgia"/>
              </a:rPr>
              <a:t>then test the glaze and handle.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A0592-C554-401D-A41F-6CD9197F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 spc="0">
                <a:solidFill>
                  <a:srgbClr val="F4DDCF"/>
                </a:solidFill>
                <a:latin typeface="Arial"/>
                <a:ea typeface="Arial"/>
                <a:cs typeface="Arial"/>
              </a:defRPr>
            </a:pPr>
            <a:r>
              <a:rPr sz="750" b="0" i="0" spc="0">
                <a:solidFill>
                  <a:srgbClr val="F4DDCF"/>
                </a:solidFill>
                <a:latin typeface="Arial"/>
                <a:ea typeface="Arial"/>
                <a:cs typeface="Arial"/>
              </a:rPr>
              <a:t>Concept presentation · October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BFF8B-C7F0-4617-BC1E-A44C4D15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defRPr sz="675" b="0" i="0" spc="0">
                <a:solidFill>
                  <a:srgbClr val="F4DDCF"/>
                </a:solidFill>
                <a:latin typeface="Arial"/>
                <a:ea typeface="Arial"/>
                <a:cs typeface="Arial"/>
              </a:defRPr>
            </a:pPr>
            <a:r>
              <a:rPr sz="675" b="0" i="0" spc="0">
                <a:solidFill>
                  <a:srgbClr val="F4DDC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61645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2026-10-09T10:57:30.4690000Z</dcterms:created>
  <dcterms:modified xsi:type="dcterms:W3CDTF">2026-10-09T10:57:30.4690000Z</dcterms:modified>
</coreProperties>
</file>